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52214-15DC-4BDE-B56E-392BA3E7D1D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65C27-EF5F-4425-A4E3-AAC6D74E2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076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65C27-EF5F-4425-A4E3-AAC6D74E2A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184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65C27-EF5F-4425-A4E3-AAC6D74E2A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4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65C27-EF5F-4425-A4E3-AAC6D74E2A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49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65C27-EF5F-4425-A4E3-AAC6D74E2A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51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65C27-EF5F-4425-A4E3-AAC6D74E2A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88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65C27-EF5F-4425-A4E3-AAC6D74E2A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34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65C27-EF5F-4425-A4E3-AAC6D74E2A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01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65C27-EF5F-4425-A4E3-AAC6D74E2A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380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65C27-EF5F-4425-A4E3-AAC6D74E2A9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57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F8DB3-5341-BF64-574A-06A51D4B8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6B7A94-6F4E-9C72-8EB7-63DAD595A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B8094-9A2A-AB42-F302-A1C277A4E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748B-FC88-4938-8B08-9007540504C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344D5-5BDA-BC22-ACC3-D3AD47D2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60EB5-03E0-332F-A09A-63F2EA08A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D73D-70AC-4385-A9BF-50D3BF921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003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443A-1E3C-16B4-1585-BF325D2FA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1620A-ED6B-93DD-1718-8DBDD58F0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BDD86-B406-F3B6-7480-4704527CC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748B-FC88-4938-8B08-9007540504C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D78C2-064B-FB4E-99FC-1C3D33A9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F4E1B-A364-4E8E-57EB-1BD616E0E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D73D-70AC-4385-A9BF-50D3BF921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168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A2D13-6A04-5126-B598-8A0AC0531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49CD0-A5D6-D80E-9FC3-C1A54731B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D7FA2-8E40-455E-BCC6-178CE6A7D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748B-FC88-4938-8B08-9007540504C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22E7-FF5C-59CF-6606-6CF903FC1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764C7-D178-ED7D-0573-E387EF9E4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D73D-70AC-4385-A9BF-50D3BF921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447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AC45B-0488-7A5D-03EF-07DEB3BE4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781EE-D3D7-35EB-40DD-C89017341B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4F3AE-CE27-34CA-D18C-6704A92EB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691E6-7B95-576F-93B4-966F472E2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748B-FC88-4938-8B08-9007540504C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A52B8-B96A-30D0-6A47-B8D34563F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8323C-C4CC-497D-B6E0-773311A93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D73D-70AC-4385-A9BF-50D3BF921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30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E990B-0594-583C-2933-8130A10F6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F86F75-C3D3-698E-613D-68A0988EA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DA51F-98D1-50E3-3EA1-28AD79F75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E67BEF-5123-529E-08DF-EB13ABE2A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AAB318-38FB-D064-71A7-B8BC619300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FC4CBC-69AB-791D-4011-545CC13B0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748B-FC88-4938-8B08-9007540504C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1852DA-540C-684C-5F52-5C3758030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4D118-3B5F-0FB2-C9CD-E5313EA77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D73D-70AC-4385-A9BF-50D3BF921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067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D4580-631D-88EA-E81D-AB4008D9A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A6647-541E-129B-089A-E03FF9796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748B-FC88-4938-8B08-9007540504C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D600E4-5F7C-CEA0-53EC-DC54D35B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29FB64-AEF0-4AB4-66AA-817B8D1F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D73D-70AC-4385-A9BF-50D3BF921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9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77C787-B5E8-984A-AC17-943248CA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748B-FC88-4938-8B08-9007540504C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5D75B4-7212-3D71-919C-F8BFCF08E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2697D-BBDB-380E-E1E0-5F9BD7AB5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D73D-70AC-4385-A9BF-50D3BF921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59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4D201-83F0-6438-7A19-EAC1560EB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350B8-ECC1-C58C-17DB-6F2D3A8CA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C01FD-BB36-7F13-D9AA-BE680DB43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354D83-55B8-446A-1254-FD194D5CC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748B-FC88-4938-8B08-9007540504C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BBD01-0E42-FB0D-E369-0CEBF379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4A969-198D-E724-735A-E1BEE3EDC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D73D-70AC-4385-A9BF-50D3BF921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913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D5E1D-CA63-04B8-CF16-D9CEFEF80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6EC2C-7D23-7A18-E6B8-8BF2817E3F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DDC8C4-12B8-6F25-5D98-6203AD6C3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9FE14-3B1B-F729-D8CF-1F585CF29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748B-FC88-4938-8B08-9007540504C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E08E6-FBCB-150C-6B1F-0677F7B43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56D65-6B89-4C05-947F-DCC08DC1E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D73D-70AC-4385-A9BF-50D3BF921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792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895BE-ACB7-72FF-5236-8D498A36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36369-07A7-3E64-9209-422106EA1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CA7D6-734A-BBDD-611F-232960085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748B-FC88-4938-8B08-9007540504C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07E1B-7DBA-FE1A-6CCE-DBAA000F3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4C2A5-15D8-5B7B-7625-C8F964CBB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D73D-70AC-4385-A9BF-50D3BF921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09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401A88-102F-0F89-46A0-F4EF101D40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90F7FF-1B7A-82BE-1B1A-CA8C93E23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3D63D-8099-F2DC-E085-3D1A7B7F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748B-FC88-4938-8B08-9007540504C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3714F-9098-72E2-B8C3-5FA51278F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935DD-4DF7-3B2B-3608-A7946515A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D73D-70AC-4385-A9BF-50D3BF921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27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E5474-87C8-12BA-95F1-9A233A74E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8686C-8357-506A-D01D-8BAD50776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C9A41-B7A0-9B0D-8FC0-E2D19D3CC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748B-FC88-4938-8B08-9007540504C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E559F-0D2F-65EE-1C10-8AD51B7F3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5A69C-6193-4227-FAD6-508D82243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D73D-70AC-4385-A9BF-50D3BF921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869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A55AFC-859B-5938-83E5-D41DA8AA9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C718C-ED8F-F547-10E9-551B3FDD8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67D17-FDFF-61E4-9C9F-FB10E408F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48748B-FC88-4938-8B08-9007540504C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3B968-951C-3672-4538-22D188632A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0F91D-AD5D-82FD-063B-96430AB83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D4D73D-70AC-4385-A9BF-50D3BF921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28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E6550-4589-7CE8-06BD-9DFA7DF8B5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000" b="1">
                <a:solidFill>
                  <a:srgbClr val="403020"/>
                </a:solidFill>
              </a:rPr>
              <a:t>Jawwy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C82FD0-C6F5-9F89-3666-073A79DB88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>
                <a:solidFill>
                  <a:srgbClr val="555555"/>
                </a:solidFill>
              </a:rPr>
              <a:t>Manager overview of the SP activation automation framework, CI/CD enablement, and business value</a:t>
            </a:r>
          </a:p>
        </p:txBody>
      </p:sp>
    </p:spTree>
    <p:extLst>
      <p:ext uri="{BB962C8B-B14F-4D97-AF65-F5344CB8AC3E}">
        <p14:creationId xmlns:p14="http://schemas.microsoft.com/office/powerpoint/2010/main" val="2496712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2A18-0836-BE00-9DF5-91A3369BF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>
                <a:solidFill>
                  <a:srgbClr val="403020"/>
                </a:solidFill>
              </a:rPr>
              <a:t>Executive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00251-5384-D36A-6F9C-1C5DB0C7A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• This project automates the Jawwy SP activation journey end to end across API, database, and UI layers.</a:t>
            </a:r>
          </a:p>
          <a:p>
            <a:r>
              <a:rPr lang="en-US" sz="2000">
                <a:solidFill>
                  <a:srgbClr val="333333"/>
                </a:solidFill>
              </a:rPr>
              <a:t>• It reduces manual validation effort and makes cross-system regression testing repeatable.</a:t>
            </a:r>
          </a:p>
          <a:p>
            <a:r>
              <a:rPr lang="en-US" sz="2000">
                <a:solidFill>
                  <a:srgbClr val="333333"/>
                </a:solidFill>
              </a:rPr>
              <a:t>• It is already integrated with Jenkins and GitHub Actions for scalable execution.</a:t>
            </a:r>
          </a:p>
          <a:p>
            <a:r>
              <a:rPr lang="en-US" sz="2000">
                <a:solidFill>
                  <a:srgbClr val="333333"/>
                </a:solidFill>
              </a:rPr>
              <a:t>• The framework also supports batch execution and manager-friendly reporting.</a:t>
            </a:r>
          </a:p>
        </p:txBody>
      </p:sp>
    </p:spTree>
    <p:extLst>
      <p:ext uri="{BB962C8B-B14F-4D97-AF65-F5344CB8AC3E}">
        <p14:creationId xmlns:p14="http://schemas.microsoft.com/office/powerpoint/2010/main" val="2236111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6E614-67BC-06F6-925F-DE865C932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>
                <a:solidFill>
                  <a:srgbClr val="403020"/>
                </a:solidFill>
              </a:rPr>
              <a:t>Business Value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F09D4-476E-C45A-A66A-EBC67EECA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• Automates a high-effort telecom activation scenario that normally spans multiple backend systems.</a:t>
            </a:r>
          </a:p>
          <a:p>
            <a:r>
              <a:rPr lang="en-US" sz="2000">
                <a:solidFill>
                  <a:srgbClr val="333333"/>
                </a:solidFill>
              </a:rPr>
              <a:t>• Shortens validation cycles for lower environments and release readiness.</a:t>
            </a:r>
          </a:p>
          <a:p>
            <a:r>
              <a:rPr lang="en-US" sz="2000">
                <a:solidFill>
                  <a:srgbClr val="333333"/>
                </a:solidFill>
              </a:rPr>
              <a:t>• Detects failures across order creation, callback processing, backend propagation, and UI task completion.</a:t>
            </a:r>
          </a:p>
          <a:p>
            <a:r>
              <a:rPr lang="en-US" sz="2000">
                <a:solidFill>
                  <a:srgbClr val="333333"/>
                </a:solidFill>
              </a:rPr>
              <a:t>• Provides a reusable base for smoke, regression, and CI-triggered test execution.</a:t>
            </a:r>
          </a:p>
        </p:txBody>
      </p:sp>
    </p:spTree>
    <p:extLst>
      <p:ext uri="{BB962C8B-B14F-4D97-AF65-F5344CB8AC3E}">
        <p14:creationId xmlns:p14="http://schemas.microsoft.com/office/powerpoint/2010/main" val="962120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F77854-4C50-8C87-7D41-A3EF81CD5D33}"/>
              </a:ext>
            </a:extLst>
          </p:cNvPr>
          <p:cNvSpPr txBox="1"/>
          <p:nvPr/>
        </p:nvSpPr>
        <p:spPr>
          <a:xfrm>
            <a:off x="381000" y="254000"/>
            <a:ext cx="787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403020"/>
                </a:solidFill>
              </a:rPr>
              <a:t>Architecture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EAF3D7-F904-8012-5FC6-9EF41E214164}"/>
              </a:ext>
            </a:extLst>
          </p:cNvPr>
          <p:cNvSpPr/>
          <p:nvPr/>
        </p:nvSpPr>
        <p:spPr>
          <a:xfrm>
            <a:off x="508000" y="1143000"/>
            <a:ext cx="2159000" cy="762000"/>
          </a:xfrm>
          <a:prstGeom prst="rect">
            <a:avLst/>
          </a:prstGeom>
          <a:solidFill>
            <a:srgbClr val="F7EAD9"/>
          </a:solidFill>
          <a:ln>
            <a:solidFill>
              <a:srgbClr val="A48B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403020"/>
                </a:solidFill>
              </a:rPr>
              <a:t>Tests</a:t>
            </a:r>
          </a:p>
          <a:p>
            <a:pPr algn="ctr"/>
            <a:r>
              <a:rPr lang="en-US" b="1">
                <a:solidFill>
                  <a:srgbClr val="403020"/>
                </a:solidFill>
              </a:rPr>
              <a:t>SpTest</a:t>
            </a:r>
          </a:p>
          <a:p>
            <a:pPr algn="ctr"/>
            <a:r>
              <a:rPr lang="en-US" b="1">
                <a:solidFill>
                  <a:srgbClr val="403020"/>
                </a:solidFill>
              </a:rPr>
              <a:t>SpBatchTest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AD9E3A-6502-9D29-8BF0-02E7A34304F7}"/>
              </a:ext>
            </a:extLst>
          </p:cNvPr>
          <p:cNvSpPr/>
          <p:nvPr/>
        </p:nvSpPr>
        <p:spPr>
          <a:xfrm>
            <a:off x="3048000" y="1143000"/>
            <a:ext cx="2159000" cy="762000"/>
          </a:xfrm>
          <a:prstGeom prst="rect">
            <a:avLst/>
          </a:prstGeom>
          <a:solidFill>
            <a:srgbClr val="F7EAD9"/>
          </a:solidFill>
          <a:ln>
            <a:solidFill>
              <a:srgbClr val="A48B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403020"/>
                </a:solidFill>
              </a:rPr>
              <a:t>Workflow</a:t>
            </a:r>
          </a:p>
          <a:p>
            <a:pPr algn="ctr"/>
            <a:r>
              <a:rPr lang="en-US" b="1">
                <a:solidFill>
                  <a:srgbClr val="403020"/>
                </a:solidFill>
              </a:rPr>
              <a:t>JawwyOrderJourney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311398-560C-EE59-EA27-7C9627E89362}"/>
              </a:ext>
            </a:extLst>
          </p:cNvPr>
          <p:cNvSpPr/>
          <p:nvPr/>
        </p:nvSpPr>
        <p:spPr>
          <a:xfrm>
            <a:off x="5588000" y="762000"/>
            <a:ext cx="2794000" cy="1524000"/>
          </a:xfrm>
          <a:prstGeom prst="rect">
            <a:avLst/>
          </a:prstGeom>
          <a:solidFill>
            <a:srgbClr val="F7EAD9"/>
          </a:solidFill>
          <a:ln>
            <a:solidFill>
              <a:srgbClr val="A48B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403020"/>
                </a:solidFill>
              </a:rPr>
              <a:t>Integrations</a:t>
            </a:r>
          </a:p>
          <a:p>
            <a:pPr algn="ctr"/>
            <a:r>
              <a:rPr lang="en-US" b="1">
                <a:solidFill>
                  <a:srgbClr val="403020"/>
                </a:solidFill>
              </a:rPr>
              <a:t>API Clients</a:t>
            </a:r>
          </a:p>
          <a:p>
            <a:pPr algn="ctr"/>
            <a:r>
              <a:rPr lang="en-US" b="1">
                <a:solidFill>
                  <a:srgbClr val="403020"/>
                </a:solidFill>
              </a:rPr>
              <a:t>Oracle DB Repository</a:t>
            </a:r>
          </a:p>
          <a:p>
            <a:pPr algn="ctr"/>
            <a:r>
              <a:rPr lang="en-US" b="1">
                <a:solidFill>
                  <a:srgbClr val="403020"/>
                </a:solidFill>
              </a:rPr>
              <a:t>Playwright UI Processor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BD678F-7C7D-F720-E3ED-5DD089FF2FD2}"/>
              </a:ext>
            </a:extLst>
          </p:cNvPr>
          <p:cNvSpPr/>
          <p:nvPr/>
        </p:nvSpPr>
        <p:spPr>
          <a:xfrm>
            <a:off x="3048000" y="2540000"/>
            <a:ext cx="2159000" cy="1143000"/>
          </a:xfrm>
          <a:prstGeom prst="rect">
            <a:avLst/>
          </a:prstGeom>
          <a:solidFill>
            <a:srgbClr val="F7EAD9"/>
          </a:solidFill>
          <a:ln>
            <a:solidFill>
              <a:srgbClr val="A48B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403020"/>
                </a:solidFill>
              </a:rPr>
              <a:t>Support</a:t>
            </a:r>
          </a:p>
          <a:p>
            <a:pPr algn="ctr"/>
            <a:r>
              <a:rPr lang="en-US" b="1">
                <a:solidFill>
                  <a:srgbClr val="403020"/>
                </a:solidFill>
              </a:rPr>
              <a:t>FrameworkConfig</a:t>
            </a:r>
          </a:p>
          <a:p>
            <a:pPr algn="ctr"/>
            <a:r>
              <a:rPr lang="en-US" b="1">
                <a:solidFill>
                  <a:srgbClr val="403020"/>
                </a:solidFill>
              </a:rPr>
              <a:t>Payloads</a:t>
            </a:r>
          </a:p>
          <a:p>
            <a:pPr algn="ctr"/>
            <a:r>
              <a:rPr lang="en-US" b="1">
                <a:solidFill>
                  <a:srgbClr val="403020"/>
                </a:solidFill>
              </a:rPr>
              <a:t>Reporting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E813D-52C0-68CA-DC1D-353B21ACC2B8}"/>
              </a:ext>
            </a:extLst>
          </p:cNvPr>
          <p:cNvSpPr/>
          <p:nvPr/>
        </p:nvSpPr>
        <p:spPr>
          <a:xfrm>
            <a:off x="508000" y="2794000"/>
            <a:ext cx="2159000" cy="1143000"/>
          </a:xfrm>
          <a:prstGeom prst="rect">
            <a:avLst/>
          </a:prstGeom>
          <a:solidFill>
            <a:srgbClr val="F7EAD9"/>
          </a:solidFill>
          <a:ln>
            <a:solidFill>
              <a:srgbClr val="A48B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403020"/>
                </a:solidFill>
              </a:rPr>
              <a:t>Execution</a:t>
            </a:r>
          </a:p>
          <a:p>
            <a:pPr algn="ctr"/>
            <a:r>
              <a:rPr lang="en-US" b="1">
                <a:solidFill>
                  <a:srgbClr val="403020"/>
                </a:solidFill>
              </a:rPr>
              <a:t>Maven</a:t>
            </a:r>
          </a:p>
          <a:p>
            <a:pPr algn="ctr"/>
            <a:r>
              <a:rPr lang="en-US" b="1">
                <a:solidFill>
                  <a:srgbClr val="403020"/>
                </a:solidFill>
              </a:rPr>
              <a:t>Jenkins</a:t>
            </a:r>
          </a:p>
          <a:p>
            <a:pPr algn="ctr"/>
            <a:r>
              <a:rPr lang="en-US" b="1">
                <a:solidFill>
                  <a:srgbClr val="403020"/>
                </a:solidFill>
              </a:rPr>
              <a:t>GitHub Actions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D2AC847-87ED-783D-E03A-611C0E8D0296}"/>
              </a:ext>
            </a:extLst>
          </p:cNvPr>
          <p:cNvCxnSpPr/>
          <p:nvPr/>
        </p:nvCxnSpPr>
        <p:spPr>
          <a:xfrm>
            <a:off x="2667000" y="1524000"/>
            <a:ext cx="381000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AEBDACE-684B-F13A-55CE-C2B0189DB64F}"/>
              </a:ext>
            </a:extLst>
          </p:cNvPr>
          <p:cNvCxnSpPr/>
          <p:nvPr/>
        </p:nvCxnSpPr>
        <p:spPr>
          <a:xfrm>
            <a:off x="5207000" y="1524000"/>
            <a:ext cx="381000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ED1EAF7-25D5-2331-E19E-5974A08CEB82}"/>
              </a:ext>
            </a:extLst>
          </p:cNvPr>
          <p:cNvCxnSpPr/>
          <p:nvPr/>
        </p:nvCxnSpPr>
        <p:spPr>
          <a:xfrm>
            <a:off x="4127500" y="1905000"/>
            <a:ext cx="0" cy="63500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DFFB264-1567-2E50-6389-155C70E2CEF1}"/>
              </a:ext>
            </a:extLst>
          </p:cNvPr>
          <p:cNvCxnSpPr/>
          <p:nvPr/>
        </p:nvCxnSpPr>
        <p:spPr>
          <a:xfrm flipV="1">
            <a:off x="2667000" y="3111500"/>
            <a:ext cx="381000" cy="6350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189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A8500-5C6B-8AC6-4892-751F85969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>
                <a:solidFill>
                  <a:srgbClr val="403020"/>
                </a:solidFill>
              </a:rPr>
              <a:t>End-to-End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24EE9-1B26-5C0F-A5A7-F2E0E94D4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• Create activation order through EOC API.</a:t>
            </a:r>
          </a:p>
          <a:p>
            <a:r>
              <a:rPr lang="en-US" sz="2000">
                <a:solidFill>
                  <a:srgbClr val="333333"/>
                </a:solidFill>
              </a:rPr>
              <a:t>• Poll Oracle DB to discover generated IDs and backend readiness signals.</a:t>
            </a:r>
          </a:p>
          <a:p>
            <a:r>
              <a:rPr lang="en-US" sz="2000">
                <a:solidFill>
                  <a:srgbClr val="333333"/>
                </a:solidFill>
              </a:rPr>
              <a:t>• Send biometrics, LMD, Comptel, and provisioning callbacks.</a:t>
            </a:r>
          </a:p>
          <a:p>
            <a:r>
              <a:rPr lang="en-US" sz="2000">
                <a:solidFill>
                  <a:srgbClr val="333333"/>
                </a:solidFill>
              </a:rPr>
              <a:t>• Open the EOC UI and finish the remaining manual task automatically.</a:t>
            </a:r>
          </a:p>
          <a:p>
            <a:r>
              <a:rPr lang="en-US" sz="2000">
                <a:solidFill>
                  <a:srgbClr val="333333"/>
                </a:solidFill>
              </a:rPr>
              <a:t>• Publish logs and reports through TestNG, Allure, Jenkins, and GitHub Actions.</a:t>
            </a:r>
          </a:p>
        </p:txBody>
      </p:sp>
    </p:spTree>
    <p:extLst>
      <p:ext uri="{BB962C8B-B14F-4D97-AF65-F5344CB8AC3E}">
        <p14:creationId xmlns:p14="http://schemas.microsoft.com/office/powerpoint/2010/main" val="3008905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3FF9C-EA5A-677C-7C4E-D074C45D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>
                <a:solidFill>
                  <a:srgbClr val="403020"/>
                </a:solidFill>
              </a:rPr>
              <a:t>Current Delivery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9F576-9B06-038E-1CA9-B25240D82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• Local execution through Maven and TestNG.</a:t>
            </a:r>
          </a:p>
          <a:p>
            <a:r>
              <a:rPr lang="en-US" sz="2000">
                <a:solidFill>
                  <a:srgbClr val="333333"/>
                </a:solidFill>
              </a:rPr>
              <a:t>• Batch execution for Jenkins using parameterized order count.</a:t>
            </a:r>
          </a:p>
          <a:p>
            <a:r>
              <a:rPr lang="en-US" sz="2000">
                <a:solidFill>
                  <a:srgbClr val="333333"/>
                </a:solidFill>
              </a:rPr>
              <a:t>• GitHub Actions workflow for CI-driven test execution.</a:t>
            </a:r>
          </a:p>
          <a:p>
            <a:r>
              <a:rPr lang="en-US" sz="2000">
                <a:solidFill>
                  <a:srgbClr val="333333"/>
                </a:solidFill>
              </a:rPr>
              <a:t>• Reporting artifacts archived from target, logs, and allure-results.</a:t>
            </a:r>
          </a:p>
        </p:txBody>
      </p:sp>
    </p:spTree>
    <p:extLst>
      <p:ext uri="{BB962C8B-B14F-4D97-AF65-F5344CB8AC3E}">
        <p14:creationId xmlns:p14="http://schemas.microsoft.com/office/powerpoint/2010/main" val="1485289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17073-FA0A-3924-B3E6-9FB259165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>
                <a:solidFill>
                  <a:srgbClr val="403020"/>
                </a:solidFill>
              </a:rPr>
              <a:t>Strengths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039EB-A250-65EF-4BC0-7484BE782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• Clear layered structure: config, API, DB, UI, workflow, tests.</a:t>
            </a:r>
          </a:p>
          <a:p>
            <a:r>
              <a:rPr lang="en-US" sz="2000">
                <a:solidFill>
                  <a:srgbClr val="333333"/>
                </a:solidFill>
              </a:rPr>
              <a:t>• Thin test classes and reusable business journey orchestration.</a:t>
            </a:r>
          </a:p>
          <a:p>
            <a:r>
              <a:rPr lang="en-US" sz="2000">
                <a:solidFill>
                  <a:srgbClr val="333333"/>
                </a:solidFill>
              </a:rPr>
              <a:t>• Externalized payloads and environment-aware configuration.</a:t>
            </a:r>
          </a:p>
          <a:p>
            <a:r>
              <a:rPr lang="en-US" sz="2000">
                <a:solidFill>
                  <a:srgbClr val="333333"/>
                </a:solidFill>
              </a:rPr>
              <a:t>• Strong practical value for integration and release validation.</a:t>
            </a:r>
          </a:p>
        </p:txBody>
      </p:sp>
    </p:spTree>
    <p:extLst>
      <p:ext uri="{BB962C8B-B14F-4D97-AF65-F5344CB8AC3E}">
        <p14:creationId xmlns:p14="http://schemas.microsoft.com/office/powerpoint/2010/main" val="1997962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1F482-A674-F295-6398-36B67C52B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>
                <a:solidFill>
                  <a:srgbClr val="403020"/>
                </a:solidFill>
              </a:rPr>
              <a:t>Current Risks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CD102-297B-873A-AC1C-7ADF30A75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• Biometrics callback timing is sensitive to backend readiness.</a:t>
            </a:r>
          </a:p>
          <a:p>
            <a:r>
              <a:rPr lang="en-US" sz="2000">
                <a:solidFill>
                  <a:srgbClr val="333333"/>
                </a:solidFill>
              </a:rPr>
              <a:t>• Manual task UI step is the most fragile part because it depends on enterprise page behavior.</a:t>
            </a:r>
          </a:p>
          <a:p>
            <a:r>
              <a:rPr lang="en-US" sz="2000">
                <a:solidFill>
                  <a:srgbClr val="333333"/>
                </a:solidFill>
              </a:rPr>
              <a:t>• Environment configuration quality is critical; wrong URLs or placeholders break the suite fast.</a:t>
            </a:r>
          </a:p>
          <a:p>
            <a:r>
              <a:rPr lang="en-US" sz="2000">
                <a:solidFill>
                  <a:srgbClr val="333333"/>
                </a:solidFill>
              </a:rPr>
              <a:t>• The framework currently relies heavily on live systems rather than mocks.</a:t>
            </a:r>
          </a:p>
        </p:txBody>
      </p:sp>
    </p:spTree>
    <p:extLst>
      <p:ext uri="{BB962C8B-B14F-4D97-AF65-F5344CB8AC3E}">
        <p14:creationId xmlns:p14="http://schemas.microsoft.com/office/powerpoint/2010/main" val="1279468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4E9FE-88B0-7394-28AC-C4FCE314A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>
                <a:solidFill>
                  <a:srgbClr val="403020"/>
                </a:solidFill>
              </a:rPr>
              <a:t>Recommended 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AEA85-3226-FACC-4EE2-3EE785BFC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• Stabilize callback timing and improve diagnostics for non-200 responses.</a:t>
            </a:r>
          </a:p>
          <a:p>
            <a:r>
              <a:rPr lang="en-US" sz="2000">
                <a:solidFill>
                  <a:srgbClr val="333333"/>
                </a:solidFill>
              </a:rPr>
              <a:t>• Capture screenshots and traces automatically on UI failure.</a:t>
            </a:r>
          </a:p>
          <a:p>
            <a:r>
              <a:rPr lang="en-US" sz="2000">
                <a:solidFill>
                  <a:srgbClr val="333333"/>
                </a:solidFill>
              </a:rPr>
              <a:t>• Separate smoke, regression, and batch suites more clearly.</a:t>
            </a:r>
          </a:p>
          <a:p>
            <a:r>
              <a:rPr lang="en-US" sz="2000">
                <a:solidFill>
                  <a:srgbClr val="333333"/>
                </a:solidFill>
              </a:rPr>
              <a:t>• Remove leftover scaffold files and unused dependencies to simplify onboarding.</a:t>
            </a:r>
          </a:p>
        </p:txBody>
      </p:sp>
    </p:spTree>
    <p:extLst>
      <p:ext uri="{BB962C8B-B14F-4D97-AF65-F5344CB8AC3E}">
        <p14:creationId xmlns:p14="http://schemas.microsoft.com/office/powerpoint/2010/main" val="1148997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589E2-128E-A674-0E16-94F2C7690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>
                <a:solidFill>
                  <a:srgbClr val="403020"/>
                </a:solidFill>
              </a:rPr>
              <a:t>Manager Takeaway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C3136-E8AA-E286-D4CD-21578D1B8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• This framework already delivers meaningful end-to-end automation value.</a:t>
            </a:r>
          </a:p>
          <a:p>
            <a:r>
              <a:rPr lang="en-US" sz="2000">
                <a:solidFill>
                  <a:srgbClr val="333333"/>
                </a:solidFill>
              </a:rPr>
              <a:t>• It connects business workflow validation with CI/CD execution.</a:t>
            </a:r>
          </a:p>
          <a:p>
            <a:r>
              <a:rPr lang="en-US" sz="2000">
                <a:solidFill>
                  <a:srgbClr val="333333"/>
                </a:solidFill>
              </a:rPr>
              <a:t>• The remaining improvements are mainly about hardening reliability, not rebuilding architecture.</a:t>
            </a:r>
          </a:p>
          <a:p>
            <a:r>
              <a:rPr lang="en-US" sz="2000">
                <a:solidFill>
                  <a:srgbClr val="333333"/>
                </a:solidFill>
              </a:rPr>
              <a:t>• It is a strong foundation for release confidence in the Jawwy activation flow.</a:t>
            </a:r>
          </a:p>
        </p:txBody>
      </p:sp>
    </p:spTree>
    <p:extLst>
      <p:ext uri="{BB962C8B-B14F-4D97-AF65-F5344CB8AC3E}">
        <p14:creationId xmlns:p14="http://schemas.microsoft.com/office/powerpoint/2010/main" val="1883079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</Words>
  <Application>Microsoft Office PowerPoint</Application>
  <PresentationFormat>Widescreen</PresentationFormat>
  <Paragraphs>70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Jawwy Automation</vt:lpstr>
      <vt:lpstr>Executive Summary</vt:lpstr>
      <vt:lpstr>Business Value</vt:lpstr>
      <vt:lpstr>PowerPoint Presentation</vt:lpstr>
      <vt:lpstr>End-to-End Flow</vt:lpstr>
      <vt:lpstr>Current Delivery Setup</vt:lpstr>
      <vt:lpstr>Strengths</vt:lpstr>
      <vt:lpstr>Current Risks</vt:lpstr>
      <vt:lpstr>Recommended Next Steps</vt:lpstr>
      <vt:lpstr>Manager Takeaway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Waad Mahmoud</dc:creator>
  <cp:lastModifiedBy>Waad Mahmoud</cp:lastModifiedBy>
  <cp:revision>1</cp:revision>
  <dcterms:created xsi:type="dcterms:W3CDTF">2026-04-08T21:54:14Z</dcterms:created>
  <dcterms:modified xsi:type="dcterms:W3CDTF">2026-04-08T21:54:14Z</dcterms:modified>
</cp:coreProperties>
</file>